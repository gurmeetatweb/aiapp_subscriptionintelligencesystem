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Garamon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aramond-regular.fntdata"/><Relationship Id="rId14" Type="http://schemas.openxmlformats.org/officeDocument/2006/relationships/slide" Target="slides/slide10.xml"/><Relationship Id="rId17" Type="http://schemas.openxmlformats.org/officeDocument/2006/relationships/font" Target="fonts/Garamond-italic.fntdata"/><Relationship Id="rId16" Type="http://schemas.openxmlformats.org/officeDocument/2006/relationships/font" Target="fonts/Garamo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Garamon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2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descr="HD-PanelTitleR1.png"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2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0" name="Google Shape;2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1" name="Google Shape;2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2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3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2" type="body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3" type="body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5" name="Google Shape;55;p6"/>
          <p:cNvSpPr txBox="1"/>
          <p:nvPr>
            <p:ph idx="4" type="body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5" name="Google Shape;65;p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/>
          <p:nvPr>
            <p:ph idx="2" type="pic"/>
          </p:nvPr>
        </p:nvSpPr>
        <p:spPr>
          <a:xfrm>
            <a:off x="8094831" y="1041400"/>
            <a:ext cx="3063347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2" name="Google Shape;82;p1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/>
          <p:nvPr>
            <p:ph idx="2" type="pic"/>
          </p:nvPr>
        </p:nvSpPr>
        <p:spPr>
          <a:xfrm>
            <a:off x="1041427" y="1041399"/>
            <a:ext cx="10105972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9" name="Google Shape;89;p1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2" type="body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13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2" type="body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15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16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9" name="Google Shape;139;p1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6" name="Google Shape;146;p18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4.jp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descr="HD-PanelContent.png" id="7" name="Google Shape;7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i="0" sz="4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746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60044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4543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83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30835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30835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3083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3083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</a:pPr>
            <a:r>
              <a:rPr lang="en-US" sz="2400"/>
              <a:t>Astro Coach – AI Decision Intelligence Platform</a:t>
            </a:r>
            <a:br>
              <a:rPr lang="en-US"/>
            </a:br>
            <a:r>
              <a:rPr i="1" lang="en-US" sz="2800"/>
              <a:t>from Data to Decisions</a:t>
            </a:r>
            <a:endParaRPr/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>
            <a:off x="1524000" y="3602038"/>
            <a:ext cx="9144000" cy="80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70"/>
              <a:buNone/>
            </a:pPr>
            <a:r>
              <a:rPr i="1" lang="en-US" sz="1800"/>
              <a:t>An AI-powered system for forecasting demand, driving conversions, and preventing churn.</a:t>
            </a:r>
            <a:endParaRPr sz="1800"/>
          </a:p>
          <a:p>
            <a:pPr indent="0" lvl="0" marL="0" rtl="0" algn="ctr">
              <a:spcBef>
                <a:spcPts val="1020"/>
              </a:spcBef>
              <a:spcAft>
                <a:spcPts val="0"/>
              </a:spcAft>
              <a:buSzPts val="2415"/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6834434" y="5862971"/>
            <a:ext cx="5279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Presented by: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Gurmeet Singh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Course: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Minor in Artifical Intelligence (AI) by IIT Ropar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Date</a:t>
            </a:r>
            <a:r>
              <a:rPr b="1"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17 Jan, 2026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THE BUSINESS CHALLENGE</a:t>
            </a:r>
            <a:endParaRPr/>
          </a:p>
        </p:txBody>
      </p:sp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894" lvl="0" marL="285750" rtl="0" algn="l">
              <a:spcBef>
                <a:spcPts val="1044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Subscription platforms struggle with conversion, churn, and campaign timing</a:t>
            </a:r>
            <a:endParaRPr/>
          </a:p>
          <a:p>
            <a:pPr indent="-298894" lvl="0" marL="285750" marR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Data exists, but insights do not translate into action</a:t>
            </a:r>
            <a:endParaRPr/>
          </a:p>
          <a:p>
            <a:pPr indent="-298894" lvl="0" marL="285750" marR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Leaders need: What will happen? What should we do? What if we change strategy?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4"/>
              <a:buFont typeface="Arial"/>
              <a:buNone/>
            </a:pPr>
            <a:r>
              <a:rPr lang="en-US" sz="3160"/>
              <a:t>What is Astro Coach - AI Decision Intelligence Platform?</a:t>
            </a:r>
            <a:endParaRPr sz="3160"/>
          </a:p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/>
              <a:t>An </a:t>
            </a:r>
            <a:r>
              <a:rPr b="1" lang="en-US"/>
              <a:t>AI Decision Intelligence Platform</a:t>
            </a:r>
            <a:r>
              <a:rPr lang="en-US"/>
              <a:t> that:</a:t>
            </a:r>
            <a:endParaRPr/>
          </a:p>
          <a:p>
            <a:pPr indent="-272605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Forecasts premium demand</a:t>
            </a:r>
            <a:endParaRPr/>
          </a:p>
          <a:p>
            <a:pPr indent="-272605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Identifies high-intent free users</a:t>
            </a:r>
            <a:endParaRPr/>
          </a:p>
          <a:p>
            <a:pPr indent="-272605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Detects churn risk early</a:t>
            </a:r>
            <a:endParaRPr/>
          </a:p>
          <a:p>
            <a:pPr indent="-272605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Simulates business scenarios</a:t>
            </a:r>
            <a:endParaRPr/>
          </a:p>
          <a:p>
            <a:pPr indent="-272605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Converts analytics into </a:t>
            </a:r>
            <a:r>
              <a:rPr b="1" lang="en-US"/>
              <a:t>executive action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/>
              <a:t>Not just prediction — </a:t>
            </a:r>
            <a:r>
              <a:rPr b="1" lang="en-US"/>
              <a:t>decision enablement</a:t>
            </a:r>
            <a:r>
              <a:rPr lang="en-US"/>
              <a:t>.</a:t>
            </a:r>
            <a:endParaRPr/>
          </a:p>
          <a:p>
            <a:pPr indent="-123634" lvl="0" marL="285750" rtl="0" algn="l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PROJECT OBJECTIVES</a:t>
            </a:r>
            <a:endParaRPr/>
          </a:p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b="1" lang="en-US"/>
              <a:t>Key Objectives</a:t>
            </a:r>
            <a:endParaRPr/>
          </a:p>
          <a:p>
            <a:pPr indent="-514350" lvl="0" marL="514350" rtl="0" algn="l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en-US"/>
              <a:t>Predict premium demand trends</a:t>
            </a:r>
            <a:endParaRPr/>
          </a:p>
          <a:p>
            <a:pPr indent="-514350" lvl="0" marL="514350" rtl="0" algn="l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en-US"/>
              <a:t>Identify users most likely to convert</a:t>
            </a:r>
            <a:endParaRPr/>
          </a:p>
          <a:p>
            <a:pPr indent="-514350" lvl="0" marL="514350" rtl="0" algn="l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en-US"/>
              <a:t>Detect churn risk before revenue loss</a:t>
            </a:r>
            <a:endParaRPr/>
          </a:p>
          <a:p>
            <a:pPr indent="-514350" lvl="0" marL="514350" rtl="0" algn="l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en-US"/>
              <a:t>Enable leadership through simulations</a:t>
            </a:r>
            <a:endParaRPr/>
          </a:p>
          <a:p>
            <a:pPr indent="-514350" lvl="0" marL="514350" rtl="0" algn="l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en-US"/>
              <a:t>Deliver a business-ready AI dashboard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1295402" y="543721"/>
            <a:ext cx="96012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SYSTEM OVERVIEW</a:t>
            </a:r>
            <a:endParaRPr/>
          </a:p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1295400" y="2462980"/>
            <a:ext cx="4047000" cy="3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b="1" lang="en-US" sz="1500"/>
              <a:t>Data Layer</a:t>
            </a:r>
            <a:endParaRPr sz="15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6900"/>
              <a:buNone/>
            </a:pPr>
            <a:r>
              <a:rPr lang="en-US" sz="1500"/>
              <a:t>User behavior, subscriptions, engagement metrics</a:t>
            </a:r>
            <a:endParaRPr sz="15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6900"/>
              <a:buNone/>
            </a:pPr>
            <a:r>
              <a:rPr b="1" lang="en-US" sz="1500"/>
              <a:t>AI Layer</a:t>
            </a:r>
            <a:endParaRPr sz="1500"/>
          </a:p>
          <a:p>
            <a:pPr indent="-271462" lvl="0" marL="285750" rtl="0" algn="l"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Forecasting models</a:t>
            </a:r>
            <a:endParaRPr sz="1500"/>
          </a:p>
          <a:p>
            <a:pPr indent="-271462" lvl="0" marL="285750" rtl="0" algn="l"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Conversion prediction</a:t>
            </a:r>
            <a:endParaRPr sz="1500"/>
          </a:p>
          <a:p>
            <a:pPr indent="-271462" lvl="0" marL="285750" rtl="0" algn="l"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Churn risk scoring</a:t>
            </a:r>
            <a:endParaRPr sz="15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6900"/>
              <a:buNone/>
            </a:pPr>
            <a:r>
              <a:rPr b="1" lang="en-US" sz="1500"/>
              <a:t>Decision Layer</a:t>
            </a:r>
            <a:endParaRPr sz="1500"/>
          </a:p>
          <a:p>
            <a:pPr indent="-271462" lvl="0" marL="285750" rtl="0" algn="l"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What-if simulators</a:t>
            </a:r>
            <a:endParaRPr sz="1500"/>
          </a:p>
          <a:p>
            <a:pPr indent="-271462" lvl="0" marL="285750" rtl="0" algn="l"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Impact analysis</a:t>
            </a:r>
            <a:endParaRPr b="1" sz="15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6900"/>
              <a:buNone/>
            </a:pPr>
            <a:r>
              <a:rPr b="1" lang="en-US" sz="1500"/>
              <a:t>Experience Layer</a:t>
            </a:r>
            <a:endParaRPr sz="1500"/>
          </a:p>
          <a:p>
            <a:pPr indent="-271462" lvl="0" marL="285750" rtl="0" algn="l"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Executive </a:t>
            </a:r>
            <a:r>
              <a:rPr lang="en-US" sz="1500"/>
              <a:t>dashboard (Streamlit</a:t>
            </a:r>
            <a:r>
              <a:rPr lang="en-US" sz="1500"/>
              <a:t>)</a:t>
            </a:r>
            <a:endParaRPr sz="1500"/>
          </a:p>
        </p:txBody>
      </p:sp>
      <p:sp>
        <p:nvSpPr>
          <p:cNvPr id="178" name="Google Shape;178;p23"/>
          <p:cNvSpPr txBox="1"/>
          <p:nvPr/>
        </p:nvSpPr>
        <p:spPr>
          <a:xfrm>
            <a:off x="1284079" y="1775749"/>
            <a:ext cx="26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End-to-End Architecture</a:t>
            </a:r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6650438" y="1771574"/>
            <a:ext cx="26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METHODOLOGY</a:t>
            </a:r>
            <a:endParaRPr/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6300592" y="2552750"/>
            <a:ext cx="4047000" cy="3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None/>
            </a:pPr>
            <a:r>
              <a:rPr b="1" lang="en-US" sz="1500"/>
              <a:t>Demand Forecasting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None/>
            </a:pPr>
            <a:r>
              <a:rPr lang="en-US" sz="1500"/>
              <a:t>Time-series modeling for premium subscriptions</a:t>
            </a:r>
            <a:endParaRPr sz="1500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None/>
            </a:pPr>
            <a:r>
              <a:rPr b="1" lang="en-US" sz="1500"/>
              <a:t>Conversion Intelligence</a:t>
            </a:r>
            <a:r>
              <a:rPr lang="en-US" sz="1500"/>
              <a:t>	</a:t>
            </a:r>
            <a:endParaRPr sz="1500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None/>
            </a:pPr>
            <a:r>
              <a:rPr lang="en-US" sz="1500"/>
              <a:t>Behavioral feature analysis to detect purchase intent</a:t>
            </a:r>
            <a:endParaRPr sz="1500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None/>
            </a:pPr>
            <a:r>
              <a:rPr b="1" lang="en-US" sz="1500"/>
              <a:t>Churn Prediction</a:t>
            </a:r>
            <a:endParaRPr b="1" sz="1500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None/>
            </a:pPr>
            <a:r>
              <a:rPr lang="en-US" sz="1500"/>
              <a:t>Risk scoring using disengagement signals</a:t>
            </a:r>
            <a:endParaRPr sz="1500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None/>
            </a:pPr>
            <a:r>
              <a:rPr b="1" lang="en-US" sz="1500"/>
              <a:t>Simulation Layer</a:t>
            </a:r>
            <a:endParaRPr sz="1500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None/>
            </a:pPr>
            <a:r>
              <a:rPr lang="en-US" sz="1500"/>
              <a:t>Scenario modeling for leadership decisions</a:t>
            </a:r>
            <a:endParaRPr b="1" sz="1500"/>
          </a:p>
        </p:txBody>
      </p:sp>
      <p:cxnSp>
        <p:nvCxnSpPr>
          <p:cNvPr id="181" name="Google Shape;181;p23"/>
          <p:cNvCxnSpPr/>
          <p:nvPr/>
        </p:nvCxnSpPr>
        <p:spPr>
          <a:xfrm>
            <a:off x="5733800" y="2605410"/>
            <a:ext cx="0" cy="3522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DATA &amp; TECHNOLOGY STACK</a:t>
            </a:r>
            <a:endParaRPr/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5000"/>
              <a:buNone/>
            </a:pPr>
            <a:r>
              <a:rPr b="1" lang="en-US"/>
              <a:t>Tools &amp; Technologies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b="1" lang="en-US"/>
              <a:t>Programming:</a:t>
            </a:r>
            <a:r>
              <a:rPr lang="en-US"/>
              <a:t> Python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b="1" lang="en-US"/>
              <a:t>Data:</a:t>
            </a:r>
            <a:r>
              <a:rPr lang="en-US"/>
              <a:t> Pandas, NumPy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b="1" lang="en-US"/>
              <a:t>ML:</a:t>
            </a:r>
            <a:r>
              <a:rPr lang="en-US"/>
              <a:t> scikit-learn / deep learning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b="1" lang="en-US"/>
              <a:t>Visualization:</a:t>
            </a:r>
            <a:r>
              <a:rPr lang="en-US"/>
              <a:t> Matplotlib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b="1" lang="en-US"/>
              <a:t>UI:</a:t>
            </a:r>
            <a:r>
              <a:rPr lang="en-US"/>
              <a:t> Streamlit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b="1" lang="en-US"/>
              <a:t>Deployment-ready architecture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/>
              <a:t>Designed for </a:t>
            </a:r>
            <a:r>
              <a:rPr b="1" lang="en-US"/>
              <a:t>scalability and business adoption</a:t>
            </a:r>
            <a:r>
              <a:rPr lang="en-US"/>
              <a:t>.</a:t>
            </a:r>
            <a:endParaRPr/>
          </a:p>
          <a:p>
            <a:pPr indent="-123634" lvl="0" marL="285750" rtl="0" algn="l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PLATFORM WALKTHROUGH</a:t>
            </a:r>
            <a:endParaRPr/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5000"/>
              <a:buNone/>
            </a:pPr>
            <a:r>
              <a:rPr b="1" lang="en-US"/>
              <a:t>Key Modules</a:t>
            </a:r>
            <a:endParaRPr/>
          </a:p>
          <a:p>
            <a:pPr indent="-285750" lvl="0" marL="285750" rtl="0" algn="l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Executive Overview</a:t>
            </a:r>
            <a:endParaRPr/>
          </a:p>
          <a:p>
            <a:pPr indent="-285750" lvl="0" marL="285750" rtl="0" algn="l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Market Trend Intelligence</a:t>
            </a:r>
            <a:endParaRPr/>
          </a:p>
          <a:p>
            <a:pPr indent="-285750" lvl="0" marL="285750" rtl="0" algn="l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Conversion Intelligence</a:t>
            </a:r>
            <a:endParaRPr/>
          </a:p>
          <a:p>
            <a:pPr indent="-285750" lvl="0" marL="285750" rtl="0" algn="l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Targeting Simulator</a:t>
            </a:r>
            <a:endParaRPr/>
          </a:p>
          <a:p>
            <a:pPr indent="-285750" lvl="0" marL="285750" rtl="0" algn="l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Churn Early Warning</a:t>
            </a:r>
            <a:endParaRPr/>
          </a:p>
          <a:p>
            <a:pPr indent="-285750" lvl="0" marL="285750" rtl="0" algn="l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Event Impact Simulator</a:t>
            </a:r>
            <a:endParaRPr/>
          </a:p>
          <a:p>
            <a:pPr indent="-285750" lvl="0" marL="285750" rtl="0" algn="l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Churn Impact Simulator</a:t>
            </a:r>
            <a:endParaRPr/>
          </a:p>
          <a:p>
            <a:pPr indent="0" lvl="0" marL="0" rtl="0" algn="l">
              <a:spcBef>
                <a:spcPts val="936"/>
              </a:spcBef>
              <a:spcAft>
                <a:spcPts val="0"/>
              </a:spcAft>
              <a:buSzPct val="115000"/>
              <a:buNone/>
            </a:pPr>
            <a:r>
              <a:rPr lang="en-US"/>
              <a:t>Each module supports a </a:t>
            </a:r>
            <a:r>
              <a:rPr b="1" lang="en-US"/>
              <a:t>specific leadership decision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936"/>
              </a:spcBef>
              <a:spcAft>
                <a:spcPts val="0"/>
              </a:spcAft>
              <a:buSzPct val="11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KEY INSIGHTS</a:t>
            </a:r>
            <a:endParaRPr/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0045" lvl="0" marL="457200" rtl="0" algn="l">
              <a:spcBef>
                <a:spcPts val="1080"/>
              </a:spcBef>
              <a:spcAft>
                <a:spcPts val="0"/>
              </a:spcAft>
              <a:buSzPts val="2070"/>
              <a:buChar char="•"/>
            </a:pPr>
            <a:r>
              <a:rPr b="1" lang="en-US"/>
              <a:t>Behavioral signals outperform raw activity</a:t>
            </a:r>
            <a:br>
              <a:rPr b="1" lang="en-US"/>
            </a:br>
            <a:endParaRPr b="1"/>
          </a:p>
          <a:p>
            <a:pPr indent="-360045" lvl="0" marL="457200" rtl="0" algn="l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b="1" lang="en-US"/>
              <a:t>Early disengagement predicts churn</a:t>
            </a:r>
            <a:br>
              <a:rPr b="1" lang="en-US"/>
            </a:br>
            <a:endParaRPr b="1"/>
          </a:p>
          <a:p>
            <a:pPr indent="-360045" lvl="0" marL="457200" rtl="0" algn="l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b="1" lang="en-US"/>
              <a:t>Targeted strategies outperform mass campaigns</a:t>
            </a:r>
            <a:br>
              <a:rPr b="1" lang="en-US"/>
            </a:br>
            <a:endParaRPr b="1"/>
          </a:p>
          <a:p>
            <a:pPr indent="-360045" lvl="0" marL="457200" rtl="0" algn="l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b="1" lang="en-US"/>
              <a:t>Simulations improve leadership confidence</a:t>
            </a:r>
            <a:endParaRPr b="1"/>
          </a:p>
          <a:p>
            <a:pPr indent="0" lvl="0" marL="17526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Responsible AI &amp; Limitations</a:t>
            </a:r>
            <a:endParaRPr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0045" lvl="0" marL="457200" rtl="0" algn="l">
              <a:spcBef>
                <a:spcPts val="1080"/>
              </a:spcBef>
              <a:spcAft>
                <a:spcPts val="0"/>
              </a:spcAft>
              <a:buSzPts val="2070"/>
              <a:buChar char="•"/>
            </a:pPr>
            <a:r>
              <a:rPr b="1" lang="en-US"/>
              <a:t>Models are probabilistic, not deterministic</a:t>
            </a:r>
            <a:br>
              <a:rPr b="1" lang="en-US"/>
            </a:br>
            <a:endParaRPr b="1"/>
          </a:p>
          <a:p>
            <a:pPr indent="-360045" lvl="0" marL="457200" rtl="0" algn="l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b="1" lang="en-US"/>
              <a:t>Designed for decision support, not automation</a:t>
            </a:r>
            <a:br>
              <a:rPr b="1" lang="en-US"/>
            </a:br>
            <a:endParaRPr b="1"/>
          </a:p>
          <a:p>
            <a:pPr indent="-360045" lvl="0" marL="457200" rtl="0" algn="l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b="1" lang="en-US"/>
              <a:t>Based on historical patterns</a:t>
            </a:r>
            <a:br>
              <a:rPr b="1" lang="en-US"/>
            </a:br>
            <a:endParaRPr b="1"/>
          </a:p>
          <a:p>
            <a:pPr indent="-360045" lvl="0" marL="457200" rtl="0" algn="l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b="1" lang="en-US"/>
              <a:t>Human-in-the-loop interpretation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THE ROAD AHEAD</a:t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1295275" y="2593865"/>
            <a:ext cx="9699600" cy="17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766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60"/>
              <a:buChar char="•"/>
            </a:pPr>
            <a:r>
              <a:rPr lang="en-US" sz="1560"/>
              <a:t>Real-time data pipelines</a:t>
            </a:r>
            <a:br>
              <a:rPr lang="en-US" sz="1560"/>
            </a:br>
            <a:endParaRPr sz="1560"/>
          </a:p>
          <a:p>
            <a:pPr indent="-32766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60"/>
              <a:buChar char="•"/>
            </a:pPr>
            <a:r>
              <a:rPr lang="en-US" sz="1560"/>
              <a:t>Sentiment analysis from reviews and feedback</a:t>
            </a:r>
            <a:br>
              <a:rPr lang="en-US" sz="1560"/>
            </a:br>
            <a:endParaRPr sz="1560"/>
          </a:p>
          <a:p>
            <a:pPr indent="-32766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60"/>
              <a:buChar char="•"/>
            </a:pPr>
            <a:r>
              <a:rPr lang="en-US" sz="1560"/>
              <a:t>CRM and marketing automation integration</a:t>
            </a:r>
            <a:br>
              <a:rPr lang="en-US" sz="1560"/>
            </a:br>
            <a:endParaRPr sz="1560"/>
          </a:p>
          <a:p>
            <a:pPr indent="-32766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60"/>
              <a:buChar char="•"/>
            </a:pPr>
            <a:r>
              <a:rPr lang="en-US" sz="1560"/>
              <a:t>Executive mobile dashboard</a:t>
            </a:r>
            <a:endParaRPr sz="1560"/>
          </a:p>
        </p:txBody>
      </p:sp>
      <p:sp>
        <p:nvSpPr>
          <p:cNvPr id="212" name="Google Shape;212;p28"/>
          <p:cNvSpPr txBox="1"/>
          <p:nvPr/>
        </p:nvSpPr>
        <p:spPr>
          <a:xfrm>
            <a:off x="1295400" y="4676829"/>
            <a:ext cx="9699600" cy="136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Astro Coach moves organizations </a:t>
            </a:r>
            <a:r>
              <a:rPr b="1" lang="en-US">
                <a:solidFill>
                  <a:schemeClr val="dk1"/>
                </a:solidFill>
              </a:rPr>
              <a:t>from decision intelligence to decision automation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It transforms</a:t>
            </a:r>
            <a:r>
              <a:rPr b="1" lang="en-US" sz="1200">
                <a:solidFill>
                  <a:schemeClr val="dk1"/>
                </a:solidFill>
              </a:rPr>
              <a:t>: </a:t>
            </a:r>
            <a:r>
              <a:rPr b="1" lang="en-US">
                <a:solidFill>
                  <a:schemeClr val="dk1"/>
                </a:solidFill>
              </a:rPr>
              <a:t>Data → Insight → Decision → Impact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This is not just an AI project —</a:t>
            </a:r>
            <a:br>
              <a:rPr lang="en-US" sz="1200">
                <a:solidFill>
                  <a:schemeClr val="dk1"/>
                </a:solidFill>
              </a:rPr>
            </a:br>
            <a:r>
              <a:rPr i="1" lang="en-US" sz="1100">
                <a:solidFill>
                  <a:schemeClr val="dk1"/>
                </a:solidFill>
              </a:rPr>
              <a:t> it is a </a:t>
            </a:r>
            <a:r>
              <a:rPr b="1" i="1" lang="en-US" sz="1100">
                <a:solidFill>
                  <a:schemeClr val="dk1"/>
                </a:solidFill>
              </a:rPr>
              <a:t>leadership enablement platform</a:t>
            </a:r>
            <a:r>
              <a:rPr i="1" lang="en-US" sz="1100">
                <a:solidFill>
                  <a:schemeClr val="dk1"/>
                </a:solidFill>
              </a:rPr>
              <a:t> for the digital economy</a:t>
            </a:r>
            <a:endParaRPr i="1" sz="2400">
              <a:solidFill>
                <a:srgbClr val="26262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