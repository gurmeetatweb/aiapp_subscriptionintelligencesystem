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10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6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69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94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0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57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6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70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71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70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109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004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35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456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0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922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88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5B2542-1A5B-44E9-9AB9-9BB3BA29E5D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11E15D8-FE6C-40E5-8C65-2B4119807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7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8086-1E27-C5C1-0CB3-DA12FE528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Astro Coach – AI Decision Intelligence Platform</a:t>
            </a:r>
            <a:br>
              <a:rPr lang="it-IT" dirty="0"/>
            </a:br>
            <a:r>
              <a:rPr lang="en-IN" sz="2800" i="1" dirty="0"/>
              <a:t>from Data to Decisions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C5055-9881-9829-8C5E-58A1238D8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00280"/>
          </a:xfrm>
        </p:spPr>
        <p:txBody>
          <a:bodyPr/>
          <a:lstStyle/>
          <a:p>
            <a:r>
              <a:rPr lang="en-US" sz="1800" i="1" dirty="0"/>
              <a:t>An AI-powered system for forecasting demand, driving conversions, and preventing churn.</a:t>
            </a:r>
            <a:endParaRPr lang="en-US" sz="18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4FAC3-0C14-D1CE-EF17-095B185E3168}"/>
              </a:ext>
            </a:extLst>
          </p:cNvPr>
          <p:cNvSpPr txBox="1"/>
          <p:nvPr/>
        </p:nvSpPr>
        <p:spPr>
          <a:xfrm>
            <a:off x="6834434" y="5862971"/>
            <a:ext cx="5279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Presented by:</a:t>
            </a:r>
            <a:r>
              <a:rPr lang="en-US" dirty="0"/>
              <a:t> Gurmeet Singh</a:t>
            </a:r>
            <a:br>
              <a:rPr lang="en-US" dirty="0"/>
            </a:br>
            <a:r>
              <a:rPr lang="en-US" b="1" dirty="0"/>
              <a:t>Course:</a:t>
            </a:r>
            <a:r>
              <a:rPr lang="en-US" dirty="0"/>
              <a:t> </a:t>
            </a:r>
            <a:r>
              <a:rPr lang="it-IT" dirty="0"/>
              <a:t>Minor in Artifical Intelligence (AI) by IIT Ropar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31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00CD-478F-23A2-DFAF-96A45E739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BUSINESS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C80D-E9CF-B62C-FCFF-E1CC442F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Problem</a:t>
            </a:r>
          </a:p>
          <a:p>
            <a:pPr marL="0" indent="0">
              <a:buNone/>
            </a:pPr>
            <a:r>
              <a:rPr lang="en-US" dirty="0"/>
              <a:t>Modern digital platforms generate massive data, but:</a:t>
            </a:r>
          </a:p>
          <a:p>
            <a:r>
              <a:rPr lang="en-US" dirty="0"/>
              <a:t>Free users don’t always convert</a:t>
            </a:r>
          </a:p>
          <a:p>
            <a:r>
              <a:rPr lang="en-US" dirty="0"/>
              <a:t>Premium users silently churn</a:t>
            </a:r>
          </a:p>
          <a:p>
            <a:r>
              <a:rPr lang="en-US" dirty="0"/>
              <a:t>Campaigns rely on intuition, not intelligence</a:t>
            </a:r>
          </a:p>
          <a:p>
            <a:r>
              <a:rPr lang="en-US" dirty="0"/>
              <a:t>Leaders see dashboards — not decisions</a:t>
            </a:r>
          </a:p>
          <a:p>
            <a:pPr marL="0" indent="0">
              <a:buNone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Data exists, but </a:t>
            </a:r>
            <a:r>
              <a:rPr lang="en-US" b="1" dirty="0"/>
              <a:t>action lags behind insight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029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7249-216D-CA5F-D8F4-A84DBA934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WHY TRADITIONAL ANALYTICS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7B798-56EE-9A07-EB5D-B7F685DEE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From Reporting to Decision Intelligence</a:t>
            </a:r>
          </a:p>
          <a:p>
            <a:pPr marL="0" indent="0">
              <a:buNone/>
            </a:pPr>
            <a:r>
              <a:rPr lang="en-US" dirty="0"/>
              <a:t>Traditional BI answers:</a:t>
            </a:r>
          </a:p>
          <a:p>
            <a:r>
              <a:rPr lang="en-US" i="1" dirty="0"/>
              <a:t>What happened?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Business leaders need:</a:t>
            </a:r>
          </a:p>
          <a:p>
            <a:r>
              <a:rPr lang="en-US" i="1" dirty="0"/>
              <a:t>What will happen?</a:t>
            </a:r>
            <a:endParaRPr lang="en-US" dirty="0"/>
          </a:p>
          <a:p>
            <a:r>
              <a:rPr lang="en-US" i="1" dirty="0"/>
              <a:t>What should we do?</a:t>
            </a:r>
            <a:endParaRPr lang="en-US" dirty="0"/>
          </a:p>
          <a:p>
            <a:r>
              <a:rPr lang="en-US" i="1" dirty="0"/>
              <a:t>What if we change strategy?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Astro Coach - </a:t>
            </a:r>
            <a:r>
              <a:rPr lang="it-IT" b="1" dirty="0"/>
              <a:t>AI Decision Intelligence Platform,</a:t>
            </a:r>
            <a:r>
              <a:rPr lang="en-US" b="1" dirty="0"/>
              <a:t> bridges this gap.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846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A5B2-769D-AC58-1435-95DA52AE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INTRODUCING ASTRO COACH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CE5F2-ED37-C47B-57B9-114E4347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is Astro Coach - </a:t>
            </a:r>
            <a:r>
              <a:rPr lang="it-IT" b="1" dirty="0"/>
              <a:t>AI Decision Intelligence Platform</a:t>
            </a:r>
            <a:r>
              <a:rPr lang="en-US" b="1" dirty="0"/>
              <a:t>?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AI Decision Intelligence Platform</a:t>
            </a:r>
            <a:r>
              <a:rPr lang="en-US" dirty="0"/>
              <a:t> that:</a:t>
            </a:r>
          </a:p>
          <a:p>
            <a:r>
              <a:rPr lang="en-US" dirty="0"/>
              <a:t>Forecasts premium demand</a:t>
            </a:r>
          </a:p>
          <a:p>
            <a:r>
              <a:rPr lang="en-US" dirty="0"/>
              <a:t>Identifies high-intent free users</a:t>
            </a:r>
          </a:p>
          <a:p>
            <a:r>
              <a:rPr lang="en-US" dirty="0"/>
              <a:t>Detects churn risk early</a:t>
            </a:r>
          </a:p>
          <a:p>
            <a:r>
              <a:rPr lang="en-US" dirty="0"/>
              <a:t>Simulates business scenarios</a:t>
            </a:r>
          </a:p>
          <a:p>
            <a:r>
              <a:rPr lang="en-US" dirty="0"/>
              <a:t>Converts analytics into </a:t>
            </a:r>
            <a:r>
              <a:rPr lang="en-US" b="1" dirty="0"/>
              <a:t>executive action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Not just prediction — </a:t>
            </a:r>
            <a:r>
              <a:rPr lang="en-US" b="1" dirty="0"/>
              <a:t>decision enablement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27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CE87-D7A6-80CC-55D1-C7EC53E6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A095-3FEC-6FF9-29D8-858F89C24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Predict premium demand trends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users most likely to convert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Detect churn risk before revenue loss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Enable leadership through simulations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Deliver a business-ready AI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23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AC2A-EF09-F375-BDDD-69FF69A8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5B29C-D1E3-3D8D-BAEC-7980ABFEF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048079" cy="331893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000" b="1" dirty="0"/>
              <a:t>Data Layer</a:t>
            </a:r>
          </a:p>
          <a:p>
            <a:pPr marL="0" indent="0">
              <a:buNone/>
            </a:pPr>
            <a:r>
              <a:rPr lang="en-US" sz="6000" dirty="0"/>
              <a:t>User behavior, subscriptions, engagement metrics</a:t>
            </a:r>
          </a:p>
          <a:p>
            <a:pPr marL="0" indent="0">
              <a:buNone/>
            </a:pPr>
            <a:r>
              <a:rPr lang="en-US" sz="6000" b="1" dirty="0"/>
              <a:t>AI Layer</a:t>
            </a:r>
            <a:endParaRPr lang="en-US" sz="6000" dirty="0"/>
          </a:p>
          <a:p>
            <a:r>
              <a:rPr lang="en-US" sz="6000" dirty="0"/>
              <a:t>Forecasting models</a:t>
            </a:r>
          </a:p>
          <a:p>
            <a:r>
              <a:rPr lang="en-US" sz="6000" dirty="0"/>
              <a:t>Conversion prediction</a:t>
            </a:r>
          </a:p>
          <a:p>
            <a:r>
              <a:rPr lang="en-US" sz="6000" dirty="0"/>
              <a:t>Churn risk scoring</a:t>
            </a:r>
          </a:p>
          <a:p>
            <a:pPr marL="0" indent="0">
              <a:buNone/>
            </a:pPr>
            <a:r>
              <a:rPr lang="en-US" sz="6000" b="1" dirty="0"/>
              <a:t>Decision Layer</a:t>
            </a:r>
            <a:endParaRPr lang="en-US" sz="6000" dirty="0"/>
          </a:p>
          <a:p>
            <a:r>
              <a:rPr lang="en-US" sz="6000" dirty="0"/>
              <a:t>What-if simulators</a:t>
            </a:r>
          </a:p>
          <a:p>
            <a:r>
              <a:rPr lang="en-US" sz="6000" dirty="0"/>
              <a:t>Impact analysis</a:t>
            </a:r>
            <a:endParaRPr lang="en-US" sz="6000" b="1" dirty="0"/>
          </a:p>
          <a:p>
            <a:pPr marL="0" indent="0">
              <a:buNone/>
            </a:pPr>
            <a:r>
              <a:rPr lang="en-US" sz="6000" b="1" dirty="0"/>
              <a:t>Experience Layer</a:t>
            </a:r>
          </a:p>
          <a:p>
            <a:r>
              <a:rPr lang="en-US" sz="6000" dirty="0"/>
              <a:t>Executive dashboard (</a:t>
            </a:r>
            <a:r>
              <a:rPr lang="en-US" sz="6000" dirty="0" err="1"/>
              <a:t>Streamlit</a:t>
            </a:r>
            <a:r>
              <a:rPr lang="en-US" sz="6000" dirty="0"/>
              <a:t>)</a:t>
            </a:r>
          </a:p>
          <a:p>
            <a:pPr marL="0" indent="0">
              <a:buNone/>
            </a:pPr>
            <a:endParaRPr lang="en-US" sz="60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F1C48-A83E-3571-0311-6D26087A9A4B}"/>
              </a:ext>
            </a:extLst>
          </p:cNvPr>
          <p:cNvSpPr txBox="1"/>
          <p:nvPr/>
        </p:nvSpPr>
        <p:spPr>
          <a:xfrm>
            <a:off x="4619134" y="1916667"/>
            <a:ext cx="2645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End-to-End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35703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9F4B-AAC7-E18F-25E0-28BA3CC6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68ADA-8C28-1944-BF70-CE90ECF0A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AI Engine Behind Astro Coach</a:t>
            </a:r>
          </a:p>
          <a:p>
            <a:r>
              <a:rPr lang="en-IN" b="1" dirty="0"/>
              <a:t>Demand Forecasting</a:t>
            </a:r>
            <a:br>
              <a:rPr lang="en-IN" dirty="0"/>
            </a:br>
            <a:r>
              <a:rPr lang="en-IN" dirty="0"/>
              <a:t>Time-series </a:t>
            </a:r>
            <a:r>
              <a:rPr lang="en-IN" dirty="0" err="1"/>
              <a:t>modeling</a:t>
            </a:r>
            <a:r>
              <a:rPr lang="en-IN" dirty="0"/>
              <a:t> for premium subscriptions</a:t>
            </a:r>
          </a:p>
          <a:p>
            <a:r>
              <a:rPr lang="en-IN" b="1" dirty="0"/>
              <a:t>Conversion Intelligence</a:t>
            </a:r>
            <a:br>
              <a:rPr lang="en-IN" dirty="0"/>
            </a:br>
            <a:r>
              <a:rPr lang="en-IN" dirty="0" err="1"/>
              <a:t>Behavioral</a:t>
            </a:r>
            <a:r>
              <a:rPr lang="en-IN" dirty="0"/>
              <a:t> feature analysis to detect purchase intent</a:t>
            </a:r>
          </a:p>
          <a:p>
            <a:r>
              <a:rPr lang="en-IN" b="1" dirty="0"/>
              <a:t>Churn Prediction</a:t>
            </a:r>
            <a:br>
              <a:rPr lang="en-IN" dirty="0"/>
            </a:br>
            <a:r>
              <a:rPr lang="en-IN" dirty="0"/>
              <a:t>Risk scoring using disengagement signals</a:t>
            </a:r>
          </a:p>
          <a:p>
            <a:r>
              <a:rPr lang="en-IN" b="1" dirty="0"/>
              <a:t>Simulation Layer</a:t>
            </a:r>
            <a:br>
              <a:rPr lang="en-IN" dirty="0"/>
            </a:br>
            <a:r>
              <a:rPr lang="en-IN" dirty="0"/>
              <a:t>Scenario </a:t>
            </a:r>
            <a:r>
              <a:rPr lang="en-IN" dirty="0" err="1"/>
              <a:t>modeling</a:t>
            </a:r>
            <a:r>
              <a:rPr lang="en-IN" dirty="0"/>
              <a:t> for leadership decisions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897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BCB2-26AA-263D-D62F-A6C07B4C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&amp;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E7C9F-FE93-FF12-9D0D-B42E0FB87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Tools &amp; Technologies</a:t>
            </a:r>
          </a:p>
          <a:p>
            <a:r>
              <a:rPr lang="en-IN" b="1" dirty="0"/>
              <a:t>Programming:</a:t>
            </a:r>
            <a:r>
              <a:rPr lang="en-IN" dirty="0"/>
              <a:t> Python</a:t>
            </a:r>
          </a:p>
          <a:p>
            <a:r>
              <a:rPr lang="en-IN" b="1" dirty="0"/>
              <a:t>Data:</a:t>
            </a:r>
            <a:r>
              <a:rPr lang="en-IN" dirty="0"/>
              <a:t> Pandas, NumPy</a:t>
            </a:r>
          </a:p>
          <a:p>
            <a:r>
              <a:rPr lang="en-IN" b="1" dirty="0"/>
              <a:t>ML:</a:t>
            </a:r>
            <a:r>
              <a:rPr lang="en-IN" dirty="0"/>
              <a:t> scikit-learn / deep learning</a:t>
            </a:r>
          </a:p>
          <a:p>
            <a:r>
              <a:rPr lang="en-IN" b="1" dirty="0"/>
              <a:t>Visualization:</a:t>
            </a:r>
            <a:r>
              <a:rPr lang="en-IN" dirty="0"/>
              <a:t> Matplotlib</a:t>
            </a:r>
          </a:p>
          <a:p>
            <a:r>
              <a:rPr lang="en-IN" b="1" dirty="0"/>
              <a:t>UI:</a:t>
            </a:r>
            <a:r>
              <a:rPr lang="en-IN" dirty="0"/>
              <a:t> </a:t>
            </a:r>
            <a:r>
              <a:rPr lang="en-IN" dirty="0" err="1"/>
              <a:t>Streamlit</a:t>
            </a:r>
            <a:endParaRPr lang="en-IN" dirty="0"/>
          </a:p>
          <a:p>
            <a:r>
              <a:rPr lang="en-IN" b="1" dirty="0"/>
              <a:t>Deployment-ready architecture</a:t>
            </a:r>
          </a:p>
          <a:p>
            <a:pPr marL="0" indent="0">
              <a:buNone/>
            </a:pPr>
            <a:r>
              <a:rPr lang="en-US" dirty="0"/>
              <a:t>Designed for </a:t>
            </a:r>
            <a:r>
              <a:rPr lang="en-US" b="1" dirty="0"/>
              <a:t>scalability and business adoption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527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91C2-21CD-D609-E326-09C7145C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PLATFORM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7830-DD6F-7257-FAC5-292F75388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Key Modules</a:t>
            </a:r>
          </a:p>
          <a:p>
            <a:r>
              <a:rPr lang="en-US" dirty="0"/>
              <a:t>Executive Overview</a:t>
            </a:r>
          </a:p>
          <a:p>
            <a:r>
              <a:rPr lang="en-US" dirty="0"/>
              <a:t>Market Trend Intelligence</a:t>
            </a:r>
          </a:p>
          <a:p>
            <a:r>
              <a:rPr lang="en-US" dirty="0"/>
              <a:t>Conversion Intelligence</a:t>
            </a:r>
          </a:p>
          <a:p>
            <a:r>
              <a:rPr lang="en-US" dirty="0"/>
              <a:t>Targeting Simulator</a:t>
            </a:r>
          </a:p>
          <a:p>
            <a:r>
              <a:rPr lang="en-US" dirty="0"/>
              <a:t>Churn Early Warning</a:t>
            </a:r>
          </a:p>
          <a:p>
            <a:r>
              <a:rPr lang="en-US" dirty="0"/>
              <a:t>Event Impact Simulator</a:t>
            </a:r>
          </a:p>
          <a:p>
            <a:r>
              <a:rPr lang="en-US" dirty="0"/>
              <a:t>Churn Impact Simulator</a:t>
            </a:r>
          </a:p>
          <a:p>
            <a:pPr marL="0" indent="0">
              <a:buNone/>
            </a:pPr>
            <a:r>
              <a:rPr lang="en-US" dirty="0"/>
              <a:t>Each module supports a </a:t>
            </a:r>
            <a:r>
              <a:rPr lang="en-US" b="1" dirty="0"/>
              <a:t>specific leadership decision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489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7F5D-509B-3A7F-5FE2-9FC84E76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3629-EB44-5FF4-16DF-82481C572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the System Reveals</a:t>
            </a:r>
          </a:p>
          <a:p>
            <a:r>
              <a:rPr lang="en-US" dirty="0"/>
              <a:t>Not all engagement leads to revenue</a:t>
            </a:r>
          </a:p>
          <a:p>
            <a:r>
              <a:rPr lang="en-US" dirty="0"/>
              <a:t>Certain behaviors strongly predict conversion</a:t>
            </a:r>
          </a:p>
          <a:p>
            <a:r>
              <a:rPr lang="en-US" dirty="0"/>
              <a:t>Churn signals appear </a:t>
            </a:r>
            <a:r>
              <a:rPr lang="en-US" b="1" dirty="0"/>
              <a:t>before cancellation</a:t>
            </a:r>
            <a:endParaRPr lang="en-US" dirty="0"/>
          </a:p>
          <a:p>
            <a:r>
              <a:rPr lang="en-US" dirty="0"/>
              <a:t>Targeted campaigns outperform mass outreach</a:t>
            </a:r>
          </a:p>
          <a:p>
            <a:pPr marL="0" indent="0">
              <a:buNone/>
            </a:pPr>
            <a:r>
              <a:rPr lang="en-US" b="1" dirty="0"/>
              <a:t>Outcome:</a:t>
            </a:r>
            <a:br>
              <a:rPr lang="en-US" dirty="0"/>
            </a:br>
            <a:r>
              <a:rPr lang="en-US" dirty="0"/>
              <a:t>Smarter growth, not louder marketing.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796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CF7EB-95E6-F81D-8081-376ED5FE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9C645-4FF3-ED6D-84C4-E2BEA869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Why Astro Coach Matters</a:t>
            </a:r>
          </a:p>
          <a:p>
            <a:r>
              <a:rPr lang="en-US" dirty="0"/>
              <a:t>Improves </a:t>
            </a:r>
            <a:r>
              <a:rPr lang="en-US" b="1" dirty="0"/>
              <a:t>marketing ROI</a:t>
            </a:r>
            <a:endParaRPr lang="en-US" dirty="0"/>
          </a:p>
          <a:p>
            <a:r>
              <a:rPr lang="en-US" dirty="0"/>
              <a:t>Reduces </a:t>
            </a:r>
            <a:r>
              <a:rPr lang="en-US" b="1" dirty="0"/>
              <a:t>customer acquisition cost</a:t>
            </a:r>
            <a:endParaRPr lang="en-US" dirty="0"/>
          </a:p>
          <a:p>
            <a:r>
              <a:rPr lang="en-US" dirty="0"/>
              <a:t>Protects </a:t>
            </a:r>
            <a:r>
              <a:rPr lang="en-US" b="1" dirty="0"/>
              <a:t>recurring revenue</a:t>
            </a:r>
            <a:endParaRPr lang="en-US" dirty="0"/>
          </a:p>
          <a:p>
            <a:r>
              <a:rPr lang="en-US" dirty="0"/>
              <a:t>Enables </a:t>
            </a:r>
            <a:r>
              <a:rPr lang="en-US" b="1" dirty="0"/>
              <a:t>data-driven leadership</a:t>
            </a:r>
            <a:endParaRPr lang="en-US" dirty="0"/>
          </a:p>
          <a:p>
            <a:r>
              <a:rPr lang="en-US" dirty="0"/>
              <a:t>Speeds up strategic decision-making</a:t>
            </a:r>
          </a:p>
          <a:p>
            <a:pPr marL="0" indent="0">
              <a:buNone/>
            </a:pPr>
            <a:r>
              <a:rPr lang="en-US" dirty="0"/>
              <a:t>AI becomes a </a:t>
            </a:r>
            <a:r>
              <a:rPr lang="en-US" b="1" dirty="0"/>
              <a:t>business partner</a:t>
            </a:r>
            <a:r>
              <a:rPr lang="en-US" dirty="0"/>
              <a:t>, not just a tool.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302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16B6-4155-803E-5B63-EFFE6E82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&amp; 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E78DB-5316-1F43-6874-C0CFFC882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Responsible AI Usage</a:t>
            </a:r>
          </a:p>
          <a:p>
            <a:r>
              <a:rPr lang="en-US" dirty="0"/>
              <a:t>Forecasts are </a:t>
            </a:r>
            <a:r>
              <a:rPr lang="en-US" b="1" dirty="0"/>
              <a:t>decision support</a:t>
            </a:r>
            <a:r>
              <a:rPr lang="en-US" dirty="0"/>
              <a:t>, not automation</a:t>
            </a:r>
          </a:p>
          <a:p>
            <a:r>
              <a:rPr lang="en-US" dirty="0"/>
              <a:t>Models depend on data quality</a:t>
            </a:r>
          </a:p>
          <a:p>
            <a:r>
              <a:rPr lang="en-US" dirty="0"/>
              <a:t>Predictions are </a:t>
            </a:r>
            <a:r>
              <a:rPr lang="en-US" b="1" dirty="0"/>
              <a:t>probabilistic</a:t>
            </a:r>
            <a:r>
              <a:rPr lang="en-US" dirty="0"/>
              <a:t>, not guarantees</a:t>
            </a:r>
          </a:p>
          <a:p>
            <a:r>
              <a:rPr lang="en-US" dirty="0"/>
              <a:t>Final decisions remain with leadership</a:t>
            </a:r>
          </a:p>
          <a:p>
            <a:pPr marL="0" indent="0">
              <a:buNone/>
            </a:pPr>
            <a:r>
              <a:rPr lang="en-US" dirty="0"/>
              <a:t>Ensuring </a:t>
            </a:r>
            <a:r>
              <a:rPr lang="en-US" b="1" dirty="0"/>
              <a:t>ethical, transparent AI adoption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3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D3383-F2EA-4F2C-BFEA-A040A448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54B6-CCD8-8308-D8B1-496B49709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What’s Next</a:t>
            </a:r>
          </a:p>
          <a:p>
            <a:r>
              <a:rPr lang="en-US" dirty="0"/>
              <a:t>Real-time data pipelines</a:t>
            </a:r>
          </a:p>
          <a:p>
            <a:r>
              <a:rPr lang="en-US" dirty="0"/>
              <a:t>Sentiment analysis (reviews, feedback)</a:t>
            </a:r>
          </a:p>
          <a:p>
            <a:r>
              <a:rPr lang="en-US" dirty="0"/>
              <a:t>CRM and marketing automation integration</a:t>
            </a:r>
          </a:p>
          <a:p>
            <a:r>
              <a:rPr lang="en-US" dirty="0"/>
              <a:t>Auto-triggered retention campaigns</a:t>
            </a:r>
          </a:p>
          <a:p>
            <a:r>
              <a:rPr lang="en-US" dirty="0"/>
              <a:t>Executive mobile dashboard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b="1" dirty="0"/>
              <a:t>decision intelligence</a:t>
            </a:r>
            <a:r>
              <a:rPr lang="en-US" dirty="0"/>
              <a:t> to </a:t>
            </a:r>
            <a:r>
              <a:rPr lang="en-US" b="1" dirty="0"/>
              <a:t>decision automation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542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AD86-4A7C-B865-D5C0-127B9ACA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5FF5-E8B4-DF33-8BBF-DF82351A7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Final Message</a:t>
            </a:r>
          </a:p>
          <a:p>
            <a:pPr marL="0" indent="0">
              <a:buNone/>
            </a:pPr>
            <a:r>
              <a:rPr lang="en-US" dirty="0"/>
              <a:t>Astro Coach - </a:t>
            </a:r>
            <a:r>
              <a:rPr lang="en-IN" dirty="0"/>
              <a:t>Subscription Intelligence System</a:t>
            </a:r>
            <a:r>
              <a:rPr lang="en-US" dirty="0"/>
              <a:t> transforms:</a:t>
            </a:r>
          </a:p>
          <a:p>
            <a:pPr marL="0" indent="0">
              <a:buNone/>
            </a:pPr>
            <a:r>
              <a:rPr lang="en-US" b="1" dirty="0"/>
              <a:t>Data → Insight → Decision → Impact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is not just an AI project.</a:t>
            </a:r>
            <a:br>
              <a:rPr lang="en-US" dirty="0"/>
            </a:br>
            <a:r>
              <a:rPr lang="en-US" dirty="0"/>
              <a:t>It is a </a:t>
            </a:r>
            <a:r>
              <a:rPr lang="en-US" b="1" dirty="0"/>
              <a:t>leadership enablement platform</a:t>
            </a:r>
            <a:r>
              <a:rPr lang="en-US" dirty="0"/>
              <a:t> for the digital economy.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6206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89</TotalTime>
  <Words>532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Astro Coach – AI Decision Intelligence Platform from Data to Decisions</vt:lpstr>
      <vt:lpstr>THE BUSINESS CHALLENGE</vt:lpstr>
      <vt:lpstr>WHY TRADITIONAL ANALYTICS FAILS</vt:lpstr>
      <vt:lpstr>INTRODUCING ASTRO COACH</vt:lpstr>
      <vt:lpstr>PROJECT OBJECTIVES</vt:lpstr>
      <vt:lpstr>SYSTEM OVERVIEW</vt:lpstr>
      <vt:lpstr>METHODOLOGY</vt:lpstr>
      <vt:lpstr>DATA &amp; TECHNOLOGY STACK</vt:lpstr>
      <vt:lpstr>PLATFORM WALKTHROUGH</vt:lpstr>
      <vt:lpstr>SAMPLE INSIGHTS</vt:lpstr>
      <vt:lpstr>BUSINESS IMPACT</vt:lpstr>
      <vt:lpstr>LIMITATIONS &amp; RESPONSIBILITY</vt:lpstr>
      <vt:lpstr>FUTURE ROADMAP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Gurmeet Singh</dc:creator>
  <cp:lastModifiedBy>Gurmeet Singh</cp:lastModifiedBy>
  <cp:revision>15</cp:revision>
  <dcterms:created xsi:type="dcterms:W3CDTF">2026-01-14T13:23:51Z</dcterms:created>
  <dcterms:modified xsi:type="dcterms:W3CDTF">2026-01-14T14:53:15Z</dcterms:modified>
</cp:coreProperties>
</file>